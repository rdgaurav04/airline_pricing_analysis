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Poppins Bold" charset="1" panose="00000800000000000000"/>
      <p:regular r:id="rId19"/>
    </p:embeddedFont>
    <p:embeddedFont>
      <p:font typeface="Poppins" charset="1" panose="00000500000000000000"/>
      <p:regular r:id="rId20"/>
    </p:embeddedFont>
    <p:embeddedFont>
      <p:font typeface="IBM Plex Mono Bold" charset="1" panose="020B08090502030002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19992" y="-1680508"/>
            <a:ext cx="13648016" cy="13648016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640768" y="-164456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29" y="0"/>
                </a:lnTo>
                <a:lnTo>
                  <a:pt x="11725929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367381" y="-633119"/>
            <a:ext cx="11553237" cy="1155323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76280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5" y="0"/>
                </a:lnTo>
                <a:lnTo>
                  <a:pt x="1658465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437613" y="4282161"/>
            <a:ext cx="1634041" cy="163404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true" flipV="false" rot="0">
            <a:off x="2086248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1" y="0"/>
                </a:moveTo>
                <a:lnTo>
                  <a:pt x="0" y="0"/>
                </a:lnTo>
                <a:lnTo>
                  <a:pt x="0" y="503483"/>
                </a:lnTo>
                <a:lnTo>
                  <a:pt x="336771" y="503483"/>
                </a:lnTo>
                <a:lnTo>
                  <a:pt x="336771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191921" y="434844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5153255" y="4282161"/>
            <a:ext cx="1634041" cy="1634041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801890" y="484744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0" y="0"/>
                </a:moveTo>
                <a:lnTo>
                  <a:pt x="336770" y="0"/>
                </a:lnTo>
                <a:lnTo>
                  <a:pt x="336770" y="503483"/>
                </a:lnTo>
                <a:lnTo>
                  <a:pt x="0" y="5034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3757405" y="3564534"/>
            <a:ext cx="10773189" cy="469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b="true" sz="6600" u="sng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Airline Pricing Analytics – Tableau Case Study</a:t>
            </a:r>
          </a:p>
          <a:p>
            <a:pPr algn="ctr">
              <a:lnSpc>
                <a:spcPts val="9240"/>
              </a:lnSpc>
            </a:pPr>
          </a:p>
          <a:p>
            <a:pPr algn="ctr">
              <a:lnSpc>
                <a:spcPts val="9240"/>
              </a:lnSpc>
              <a:spcBef>
                <a:spcPct val="0"/>
              </a:spcBef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5834960" y="6533928"/>
            <a:ext cx="631882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“This project focuses on helping an airline pricing manager make faster, data-driven pricing decisions using interactive Tableau dashboards.”</a:t>
            </a:r>
          </a:p>
          <a:p>
            <a:pPr algn="ctr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8314040" y="2497113"/>
            <a:ext cx="1898560" cy="1304496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8316800" y="6477427"/>
            <a:ext cx="1893040" cy="1312494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8532606" y="4267293"/>
            <a:ext cx="2635124" cy="563602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8530566" y="5475506"/>
            <a:ext cx="2639203" cy="54418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792023" y="1731496"/>
            <a:ext cx="6824008" cy="682400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452411" y="2489522"/>
            <a:ext cx="5862965" cy="5855636"/>
          </a:xfrm>
          <a:custGeom>
            <a:avLst/>
            <a:gdLst/>
            <a:ahLst/>
            <a:cxnLst/>
            <a:rect r="r" b="b" t="t" l="l"/>
            <a:pathLst>
              <a:path h="5855636" w="5862965">
                <a:moveTo>
                  <a:pt x="0" y="0"/>
                </a:moveTo>
                <a:lnTo>
                  <a:pt x="5862964" y="0"/>
                </a:lnTo>
                <a:lnTo>
                  <a:pt x="5862964" y="5855636"/>
                </a:lnTo>
                <a:lnTo>
                  <a:pt x="0" y="5855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315717" y="2255191"/>
            <a:ext cx="5776619" cy="577661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47893" y="1855723"/>
            <a:ext cx="4950613" cy="1272624"/>
            <a:chOff x="0" y="0"/>
            <a:chExt cx="1013318" cy="2604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820934" y="2012087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796997" y="1971051"/>
            <a:ext cx="1011607" cy="101160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104764" y="2367684"/>
            <a:ext cx="218342" cy="21834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604025" y="3623366"/>
            <a:ext cx="4950613" cy="1272624"/>
            <a:chOff x="0" y="0"/>
            <a:chExt cx="1013318" cy="2604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11777067" y="3779730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753129" y="3738694"/>
            <a:ext cx="1011607" cy="101160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060897" y="4135327"/>
            <a:ext cx="218342" cy="218342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1604025" y="5391009"/>
            <a:ext cx="4950613" cy="1272624"/>
            <a:chOff x="0" y="0"/>
            <a:chExt cx="1013318" cy="2604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1777067" y="5547373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1753129" y="5506337"/>
            <a:ext cx="1011607" cy="1011607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060897" y="5902970"/>
            <a:ext cx="218342" cy="218342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647893" y="7158653"/>
            <a:ext cx="4950613" cy="1272624"/>
            <a:chOff x="0" y="0"/>
            <a:chExt cx="1013318" cy="260488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0820934" y="731501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9" y="0"/>
                </a:lnTo>
                <a:lnTo>
                  <a:pt x="1026729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0796997" y="7273980"/>
            <a:ext cx="1011607" cy="1011607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104764" y="7670613"/>
            <a:ext cx="218342" cy="218342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2698683" y="2754917"/>
            <a:ext cx="4484950" cy="1736899"/>
          </a:xfrm>
          <a:custGeom>
            <a:avLst/>
            <a:gdLst/>
            <a:ahLst/>
            <a:cxnLst/>
            <a:rect r="r" b="b" t="t" l="l"/>
            <a:pathLst>
              <a:path h="1736899" w="4484950">
                <a:moveTo>
                  <a:pt x="0" y="0"/>
                </a:moveTo>
                <a:lnTo>
                  <a:pt x="4484951" y="0"/>
                </a:lnTo>
                <a:lnTo>
                  <a:pt x="4484951" y="1736899"/>
                </a:lnTo>
                <a:lnTo>
                  <a:pt x="0" y="17368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3229539" y="4900305"/>
            <a:ext cx="3948976" cy="1407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3A6AD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Airline Pricing Intelligence Dashboard (Tableau)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149516" y="2274750"/>
            <a:ext cx="34489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Market Competitiveness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0932277" y="2244238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105649" y="4042393"/>
            <a:ext cx="34489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Pricing Trends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888409" y="4011881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B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105649" y="5810036"/>
            <a:ext cx="34489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Decision Support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1888409" y="5779525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49516" y="7577679"/>
            <a:ext cx="3448990" cy="36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Trend Analysis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932277" y="7547168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409860" y="3351068"/>
            <a:ext cx="4950613" cy="1272624"/>
            <a:chOff x="0" y="0"/>
            <a:chExt cx="1013318" cy="2604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204710" y="3507432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180772" y="3466395"/>
            <a:ext cx="1011607" cy="101160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436507" y="3746122"/>
            <a:ext cx="344899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Competitive Positioning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316053" y="3739583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1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409860" y="5404742"/>
            <a:ext cx="4950613" cy="1272624"/>
            <a:chOff x="0" y="0"/>
            <a:chExt cx="1013318" cy="2604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6204710" y="556110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6180772" y="5520070"/>
            <a:ext cx="1011607" cy="1011607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314610" y="5800640"/>
            <a:ext cx="344899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Outlier Detection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316053" y="5793257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2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2409860" y="7458416"/>
            <a:ext cx="4950613" cy="1272624"/>
            <a:chOff x="0" y="0"/>
            <a:chExt cx="1013318" cy="26048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6204710" y="7614780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180772" y="7573744"/>
            <a:ext cx="1011607" cy="1011607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2314610" y="7854315"/>
            <a:ext cx="344899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Price Influencers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316053" y="7846931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3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927526" y="3351068"/>
            <a:ext cx="4950613" cy="1272624"/>
            <a:chOff x="0" y="0"/>
            <a:chExt cx="1013318" cy="26048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11100568" y="3507432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1076630" y="3466395"/>
            <a:ext cx="1011607" cy="1011607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524400" y="3779619"/>
            <a:ext cx="3448990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Market Share Intelligence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211911" y="3739583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4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0927526" y="5404742"/>
            <a:ext cx="4950613" cy="1272624"/>
            <a:chOff x="0" y="0"/>
            <a:chExt cx="1013318" cy="26048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1100568" y="5561106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1076630" y="5520070"/>
            <a:ext cx="1011607" cy="1011607"/>
            <a:chOff x="0" y="0"/>
            <a:chExt cx="812800" cy="8128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2524400" y="5833293"/>
            <a:ext cx="344899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Trend Analysis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211911" y="5793257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5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927526" y="7458416"/>
            <a:ext cx="4950613" cy="1272624"/>
            <a:chOff x="0" y="0"/>
            <a:chExt cx="1013318" cy="26048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13318" cy="260488"/>
            </a:xfrm>
            <a:custGeom>
              <a:avLst/>
              <a:gdLst/>
              <a:ahLst/>
              <a:cxnLst/>
              <a:rect r="r" b="b" t="t" l="l"/>
              <a:pathLst>
                <a:path h="260488" w="1013318">
                  <a:moveTo>
                    <a:pt x="130244" y="0"/>
                  </a:moveTo>
                  <a:lnTo>
                    <a:pt x="883074" y="0"/>
                  </a:lnTo>
                  <a:cubicBezTo>
                    <a:pt x="917617" y="0"/>
                    <a:pt x="950745" y="13722"/>
                    <a:pt x="975171" y="38148"/>
                  </a:cubicBezTo>
                  <a:cubicBezTo>
                    <a:pt x="999596" y="62573"/>
                    <a:pt x="1013318" y="95701"/>
                    <a:pt x="1013318" y="130244"/>
                  </a:cubicBezTo>
                  <a:lnTo>
                    <a:pt x="1013318" y="130244"/>
                  </a:lnTo>
                  <a:cubicBezTo>
                    <a:pt x="1013318" y="202175"/>
                    <a:pt x="955006" y="260488"/>
                    <a:pt x="883074" y="260488"/>
                  </a:cubicBezTo>
                  <a:lnTo>
                    <a:pt x="130244" y="260488"/>
                  </a:lnTo>
                  <a:cubicBezTo>
                    <a:pt x="95701" y="260488"/>
                    <a:pt x="62573" y="246766"/>
                    <a:pt x="38148" y="222340"/>
                  </a:cubicBezTo>
                  <a:cubicBezTo>
                    <a:pt x="13722" y="197915"/>
                    <a:pt x="0" y="164787"/>
                    <a:pt x="0" y="130244"/>
                  </a:cubicBezTo>
                  <a:lnTo>
                    <a:pt x="0" y="130244"/>
                  </a:lnTo>
                  <a:cubicBezTo>
                    <a:pt x="0" y="95701"/>
                    <a:pt x="13722" y="62573"/>
                    <a:pt x="38148" y="38148"/>
                  </a:cubicBezTo>
                  <a:cubicBezTo>
                    <a:pt x="62573" y="13722"/>
                    <a:pt x="95701" y="0"/>
                    <a:pt x="1302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13318" cy="298588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4" id="54"/>
          <p:cNvSpPr/>
          <p:nvPr/>
        </p:nvSpPr>
        <p:spPr>
          <a:xfrm flipH="false" flipV="false" rot="0">
            <a:off x="11100568" y="7614780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11076630" y="7573744"/>
            <a:ext cx="1011607" cy="1011607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524400" y="7886968"/>
            <a:ext cx="344899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B3B3B"/>
                </a:solidFill>
                <a:latin typeface="Poppins"/>
                <a:ea typeface="Poppins"/>
                <a:cs typeface="Poppins"/>
                <a:sym typeface="Poppins"/>
              </a:rPr>
              <a:t>Drill-Down Explorer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211911" y="7846931"/>
            <a:ext cx="741046" cy="398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55"/>
              </a:lnSpc>
              <a:spcBef>
                <a:spcPct val="0"/>
              </a:spcBef>
            </a:pPr>
            <a:r>
              <a:rPr lang="en-US" b="true" sz="218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6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346047" y="1785679"/>
            <a:ext cx="7595905" cy="65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Decision-Focused. Dashboards</a:t>
            </a:r>
          </a:p>
        </p:txBody>
      </p:sp>
      <p:sp>
        <p:nvSpPr>
          <p:cNvPr name="AutoShape 61" id="61"/>
          <p:cNvSpPr/>
          <p:nvPr/>
        </p:nvSpPr>
        <p:spPr>
          <a:xfrm>
            <a:off x="7766528" y="3987380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>
            <a:off x="7766528" y="6041054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>
            <a:off x="7766528" y="8094728"/>
            <a:ext cx="2754945" cy="0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7657357" y="3878209"/>
            <a:ext cx="218342" cy="218342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412301" y="3878209"/>
            <a:ext cx="218342" cy="218342"/>
            <a:chOff x="0" y="0"/>
            <a:chExt cx="812800" cy="8128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7657357" y="5931883"/>
            <a:ext cx="218342" cy="218342"/>
            <a:chOff x="0" y="0"/>
            <a:chExt cx="812800" cy="8128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0412301" y="5931883"/>
            <a:ext cx="218342" cy="218342"/>
            <a:chOff x="0" y="0"/>
            <a:chExt cx="812800" cy="81280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657357" y="7985557"/>
            <a:ext cx="218342" cy="218342"/>
            <a:chOff x="0" y="0"/>
            <a:chExt cx="812800" cy="8128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412301" y="7985557"/>
            <a:ext cx="218342" cy="218342"/>
            <a:chOff x="0" y="0"/>
            <a:chExt cx="812800" cy="8128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82" id="82"/>
          <p:cNvSpPr/>
          <p:nvPr/>
        </p:nvSpPr>
        <p:spPr>
          <a:xfrm>
            <a:off x="9144000" y="4001667"/>
            <a:ext cx="0" cy="6555277"/>
          </a:xfrm>
          <a:prstGeom prst="line">
            <a:avLst/>
          </a:prstGeom>
          <a:ln cap="flat" w="28575">
            <a:solidFill>
              <a:srgbClr val="F8F8F8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028295" y="-2149242"/>
            <a:ext cx="14585483" cy="145854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616796" y="-529054"/>
            <a:ext cx="12531371" cy="12515707"/>
          </a:xfrm>
          <a:custGeom>
            <a:avLst/>
            <a:gdLst/>
            <a:ahLst/>
            <a:cxnLst/>
            <a:rect r="r" b="b" t="t" l="l"/>
            <a:pathLst>
              <a:path h="12515707" w="12531371">
                <a:moveTo>
                  <a:pt x="0" y="0"/>
                </a:moveTo>
                <a:lnTo>
                  <a:pt x="12531370" y="0"/>
                </a:lnTo>
                <a:lnTo>
                  <a:pt x="12531370" y="12515706"/>
                </a:lnTo>
                <a:lnTo>
                  <a:pt x="0" y="125157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3908961" y="-1029908"/>
            <a:ext cx="12346817" cy="1234681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04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3509892" y="3313366"/>
            <a:ext cx="1138768" cy="1138768"/>
          </a:xfrm>
          <a:custGeom>
            <a:avLst/>
            <a:gdLst/>
            <a:ahLst/>
            <a:cxnLst/>
            <a:rect r="r" b="b" t="t" l="l"/>
            <a:pathLst>
              <a:path h="1138768" w="1138768">
                <a:moveTo>
                  <a:pt x="0" y="0"/>
                </a:moveTo>
                <a:lnTo>
                  <a:pt x="1138768" y="0"/>
                </a:lnTo>
                <a:lnTo>
                  <a:pt x="1138768" y="1138768"/>
                </a:lnTo>
                <a:lnTo>
                  <a:pt x="0" y="11387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04788" y="4621483"/>
            <a:ext cx="3948976" cy="16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Context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30909" y="2960382"/>
            <a:ext cx="7360890" cy="3887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80"/>
              </a:lnSpc>
            </a:pPr>
          </a:p>
          <a:p>
            <a:pPr algn="just" marL="474986" indent="-237493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irline pricing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nager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responsib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 for route-level </a:t>
            </a:r>
          </a:p>
          <a:p>
            <a:pPr algn="just">
              <a:lnSpc>
                <a:spcPts val="3080"/>
              </a:lnSpc>
              <a:spcBef>
                <a:spcPct val="0"/>
              </a:spcBef>
            </a:pP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pricing decisions</a:t>
            </a:r>
          </a:p>
          <a:p>
            <a:pPr algn="just" marL="474986" indent="-237493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Compe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ive mark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multiple airlines per r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ute</a:t>
            </a:r>
          </a:p>
          <a:p>
            <a:pPr algn="just" marL="474986" indent="-237493" lvl="1">
              <a:lnSpc>
                <a:spcPts val="3080"/>
              </a:lnSpc>
              <a:spcBef>
                <a:spcPct val="0"/>
              </a:spcBef>
              <a:buFont typeface="Arial"/>
              <a:buChar char="•"/>
            </a:pP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Pricing in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luenced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b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y:</a:t>
            </a:r>
          </a:p>
          <a:p>
            <a:pPr algn="just" marL="949972" indent="-316657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mpetitor fares</a:t>
            </a:r>
          </a:p>
          <a:p>
            <a:pPr algn="just" marL="949972" indent="-316657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Stops &amp; flight 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uration</a:t>
            </a:r>
          </a:p>
          <a:p>
            <a:pPr algn="just" marL="949972" indent="-316657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Departure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</a:t>
            </a:r>
          </a:p>
          <a:p>
            <a:pPr algn="just" marL="949972" indent="-316657" lvl="2">
              <a:lnSpc>
                <a:spcPts val="3080"/>
              </a:lnSpc>
              <a:spcBef>
                <a:spcPct val="0"/>
              </a:spcBef>
              <a:buFont typeface="Arial"/>
              <a:buChar char="⚬"/>
            </a:pP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</a:t>
            </a:r>
            <a:r>
              <a:rPr lang="en-US" sz="2200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presence</a:t>
            </a:r>
          </a:p>
          <a:p>
            <a:pPr algn="just" marL="0" indent="0" lvl="0">
              <a:lnSpc>
                <a:spcPts val="30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0" y="-3982363"/>
            <a:ext cx="13240663" cy="13240663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425354" y="-2511561"/>
            <a:ext cx="11375945" cy="11361725"/>
          </a:xfrm>
          <a:custGeom>
            <a:avLst/>
            <a:gdLst/>
            <a:ahLst/>
            <a:cxnLst/>
            <a:rect r="r" b="b" t="t" l="l"/>
            <a:pathLst>
              <a:path h="11361725" w="11375945">
                <a:moveTo>
                  <a:pt x="0" y="0"/>
                </a:moveTo>
                <a:lnTo>
                  <a:pt x="11375946" y="0"/>
                </a:lnTo>
                <a:lnTo>
                  <a:pt x="11375946" y="11361725"/>
                </a:lnTo>
                <a:lnTo>
                  <a:pt x="0" y="113617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160128" y="-2966235"/>
            <a:ext cx="11208407" cy="1120840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2481096" y="3946086"/>
            <a:ext cx="3948976" cy="1617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Questions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53867" y="1759616"/>
            <a:ext cx="7603612" cy="6482556"/>
            <a:chOff x="0" y="0"/>
            <a:chExt cx="1556348" cy="132688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56348" cy="1326885"/>
            </a:xfrm>
            <a:custGeom>
              <a:avLst/>
              <a:gdLst/>
              <a:ahLst/>
              <a:cxnLst/>
              <a:rect r="r" b="b" t="t" l="l"/>
              <a:pathLst>
                <a:path h="1326885" w="1556348">
                  <a:moveTo>
                    <a:pt x="50909" y="0"/>
                  </a:moveTo>
                  <a:lnTo>
                    <a:pt x="1505439" y="0"/>
                  </a:lnTo>
                  <a:cubicBezTo>
                    <a:pt x="1533555" y="0"/>
                    <a:pt x="1556348" y="22793"/>
                    <a:pt x="1556348" y="50909"/>
                  </a:cubicBezTo>
                  <a:lnTo>
                    <a:pt x="1556348" y="1275975"/>
                  </a:lnTo>
                  <a:cubicBezTo>
                    <a:pt x="1556348" y="1289477"/>
                    <a:pt x="1550985" y="1302426"/>
                    <a:pt x="1541437" y="1311974"/>
                  </a:cubicBezTo>
                  <a:cubicBezTo>
                    <a:pt x="1531890" y="1321521"/>
                    <a:pt x="1518941" y="1326885"/>
                    <a:pt x="1505439" y="1326885"/>
                  </a:cubicBezTo>
                  <a:lnTo>
                    <a:pt x="50909" y="1326885"/>
                  </a:lnTo>
                  <a:cubicBezTo>
                    <a:pt x="22793" y="1326885"/>
                    <a:pt x="0" y="1304092"/>
                    <a:pt x="0" y="1275975"/>
                  </a:cubicBezTo>
                  <a:lnTo>
                    <a:pt x="0" y="50909"/>
                  </a:lnTo>
                  <a:cubicBezTo>
                    <a:pt x="0" y="22793"/>
                    <a:pt x="22793" y="0"/>
                    <a:pt x="50909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556348" cy="1364985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54307" y="1981997"/>
            <a:ext cx="1311944" cy="1311944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801947" y="2504924"/>
            <a:ext cx="1307274" cy="1324127"/>
          </a:xfrm>
          <a:custGeom>
            <a:avLst/>
            <a:gdLst/>
            <a:ahLst/>
            <a:cxnLst/>
            <a:rect r="r" b="b" t="t" l="l"/>
            <a:pathLst>
              <a:path h="1324127" w="1307274">
                <a:moveTo>
                  <a:pt x="0" y="0"/>
                </a:moveTo>
                <a:lnTo>
                  <a:pt x="1307275" y="0"/>
                </a:lnTo>
                <a:lnTo>
                  <a:pt x="1307275" y="1324127"/>
                </a:lnTo>
                <a:lnTo>
                  <a:pt x="0" y="1324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216486" y="2155508"/>
            <a:ext cx="449621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Are our fares competitive on each route?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634145" y="2256986"/>
            <a:ext cx="752268" cy="761966"/>
          </a:xfrm>
          <a:custGeom>
            <a:avLst/>
            <a:gdLst/>
            <a:ahLst/>
            <a:cxnLst/>
            <a:rect r="r" b="b" t="t" l="l"/>
            <a:pathLst>
              <a:path h="761966" w="752268">
                <a:moveTo>
                  <a:pt x="0" y="0"/>
                </a:moveTo>
                <a:lnTo>
                  <a:pt x="752268" y="0"/>
                </a:lnTo>
                <a:lnTo>
                  <a:pt x="752268" y="761965"/>
                </a:lnTo>
                <a:lnTo>
                  <a:pt x="0" y="76196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3216486" y="3214053"/>
            <a:ext cx="4103440" cy="1172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Where are we overpriced or underpriced vs market?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216486" y="4723765"/>
            <a:ext cx="4832885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How do prices change over time?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216486" y="5781331"/>
            <a:ext cx="470195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Do stops and duration justify premium pricing?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216486" y="6935990"/>
            <a:ext cx="4701959" cy="78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6" indent="-237488" lvl="1">
              <a:lnSpc>
                <a:spcPts val="3079"/>
              </a:lnSpc>
              <a:buFont typeface="Arial"/>
              <a:buChar char="•"/>
            </a:pPr>
            <a:r>
              <a:rPr lang="en-US" b="true" sz="2199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Is low performance caused by pricing or market share?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2224" y="-6441776"/>
            <a:ext cx="12883553" cy="1288355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49019" y="-5010643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8" y="0"/>
                </a:lnTo>
                <a:lnTo>
                  <a:pt x="11069128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690946" y="-5453054"/>
            <a:ext cx="10906108" cy="1090610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2695" y="2879531"/>
            <a:ext cx="4582611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Overview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490363" y="1438369"/>
            <a:ext cx="1307274" cy="1324127"/>
          </a:xfrm>
          <a:custGeom>
            <a:avLst/>
            <a:gdLst/>
            <a:ahLst/>
            <a:cxnLst/>
            <a:rect r="r" b="b" t="t" l="l"/>
            <a:pathLst>
              <a:path h="1324127" w="1307274">
                <a:moveTo>
                  <a:pt x="0" y="0"/>
                </a:moveTo>
                <a:lnTo>
                  <a:pt x="1307274" y="0"/>
                </a:lnTo>
                <a:lnTo>
                  <a:pt x="1307274" y="1324127"/>
                </a:lnTo>
                <a:lnTo>
                  <a:pt x="0" y="1324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387362" y="6472162"/>
            <a:ext cx="13911784" cy="3193996"/>
            <a:chOff x="0" y="0"/>
            <a:chExt cx="2847539" cy="6537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47539" cy="653764"/>
            </a:xfrm>
            <a:custGeom>
              <a:avLst/>
              <a:gdLst/>
              <a:ahLst/>
              <a:cxnLst/>
              <a:rect r="r" b="b" t="t" l="l"/>
              <a:pathLst>
                <a:path h="653764" w="2847539">
                  <a:moveTo>
                    <a:pt x="27825" y="0"/>
                  </a:moveTo>
                  <a:lnTo>
                    <a:pt x="2819714" y="0"/>
                  </a:lnTo>
                  <a:cubicBezTo>
                    <a:pt x="2827094" y="0"/>
                    <a:pt x="2834171" y="2932"/>
                    <a:pt x="2839389" y="8150"/>
                  </a:cubicBezTo>
                  <a:cubicBezTo>
                    <a:pt x="2844608" y="13368"/>
                    <a:pt x="2847539" y="20445"/>
                    <a:pt x="2847539" y="27825"/>
                  </a:cubicBezTo>
                  <a:lnTo>
                    <a:pt x="2847539" y="625939"/>
                  </a:lnTo>
                  <a:cubicBezTo>
                    <a:pt x="2847539" y="633319"/>
                    <a:pt x="2844608" y="640396"/>
                    <a:pt x="2839389" y="645615"/>
                  </a:cubicBezTo>
                  <a:cubicBezTo>
                    <a:pt x="2834171" y="650833"/>
                    <a:pt x="2827094" y="653764"/>
                    <a:pt x="2819714" y="653764"/>
                  </a:cubicBezTo>
                  <a:lnTo>
                    <a:pt x="27825" y="653764"/>
                  </a:lnTo>
                  <a:cubicBezTo>
                    <a:pt x="20445" y="653764"/>
                    <a:pt x="13368" y="650833"/>
                    <a:pt x="8150" y="645615"/>
                  </a:cubicBezTo>
                  <a:cubicBezTo>
                    <a:pt x="2932" y="640396"/>
                    <a:pt x="0" y="633319"/>
                    <a:pt x="0" y="625939"/>
                  </a:cubicBezTo>
                  <a:lnTo>
                    <a:pt x="0" y="27825"/>
                  </a:lnTo>
                  <a:cubicBezTo>
                    <a:pt x="0" y="20445"/>
                    <a:pt x="2932" y="13368"/>
                    <a:pt x="8150" y="8150"/>
                  </a:cubicBezTo>
                  <a:cubicBezTo>
                    <a:pt x="13368" y="2932"/>
                    <a:pt x="20445" y="0"/>
                    <a:pt x="27825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47539" cy="691864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922291" y="7432973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937412" y="7227460"/>
            <a:ext cx="1011607" cy="101160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265640" y="7522395"/>
            <a:ext cx="355150" cy="359728"/>
          </a:xfrm>
          <a:custGeom>
            <a:avLst/>
            <a:gdLst/>
            <a:ahLst/>
            <a:cxnLst/>
            <a:rect r="r" b="b" t="t" l="l"/>
            <a:pathLst>
              <a:path h="359728" w="355150">
                <a:moveTo>
                  <a:pt x="0" y="0"/>
                </a:moveTo>
                <a:lnTo>
                  <a:pt x="355150" y="0"/>
                </a:lnTo>
                <a:lnTo>
                  <a:pt x="355150" y="359728"/>
                </a:lnTo>
                <a:lnTo>
                  <a:pt x="0" y="3597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789398" y="6784732"/>
            <a:ext cx="2063297" cy="44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2"/>
              </a:lnSpc>
              <a:spcBef>
                <a:spcPct val="0"/>
              </a:spcBef>
            </a:pPr>
            <a:r>
              <a:rPr lang="en-US" b="true" sz="244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Used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90895" y="6745863"/>
            <a:ext cx="4365292" cy="234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 (Origin–Destination)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Airlines (Carrier)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Fare (Price incl. stops)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Number of stops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Flight duration</a:t>
            </a:r>
          </a:p>
          <a:p>
            <a:pPr algn="l" marL="410208" indent="-205104" lvl="1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Departure date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0807" y="1632273"/>
            <a:ext cx="4747063" cy="3624181"/>
            <a:chOff x="0" y="0"/>
            <a:chExt cx="971654" cy="7418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1654" cy="741817"/>
            </a:xfrm>
            <a:custGeom>
              <a:avLst/>
              <a:gdLst/>
              <a:ahLst/>
              <a:cxnLst/>
              <a:rect r="r" b="b" t="t" l="l"/>
              <a:pathLst>
                <a:path h="741817" w="971654">
                  <a:moveTo>
                    <a:pt x="81544" y="0"/>
                  </a:moveTo>
                  <a:lnTo>
                    <a:pt x="890110" y="0"/>
                  </a:lnTo>
                  <a:cubicBezTo>
                    <a:pt x="911737" y="0"/>
                    <a:pt x="932478" y="8591"/>
                    <a:pt x="947771" y="23884"/>
                  </a:cubicBezTo>
                  <a:cubicBezTo>
                    <a:pt x="963063" y="39176"/>
                    <a:pt x="971654" y="59917"/>
                    <a:pt x="971654" y="81544"/>
                  </a:cubicBezTo>
                  <a:lnTo>
                    <a:pt x="971654" y="660273"/>
                  </a:lnTo>
                  <a:cubicBezTo>
                    <a:pt x="971654" y="681900"/>
                    <a:pt x="963063" y="702641"/>
                    <a:pt x="947771" y="717933"/>
                  </a:cubicBezTo>
                  <a:cubicBezTo>
                    <a:pt x="932478" y="733226"/>
                    <a:pt x="911737" y="741817"/>
                    <a:pt x="890110" y="741817"/>
                  </a:cubicBezTo>
                  <a:lnTo>
                    <a:pt x="81544" y="741817"/>
                  </a:lnTo>
                  <a:cubicBezTo>
                    <a:pt x="59917" y="741817"/>
                    <a:pt x="39176" y="733226"/>
                    <a:pt x="23884" y="717933"/>
                  </a:cubicBezTo>
                  <a:cubicBezTo>
                    <a:pt x="8591" y="702641"/>
                    <a:pt x="0" y="681900"/>
                    <a:pt x="0" y="660273"/>
                  </a:cubicBezTo>
                  <a:lnTo>
                    <a:pt x="0" y="81544"/>
                  </a:lnTo>
                  <a:cubicBezTo>
                    <a:pt x="0" y="59917"/>
                    <a:pt x="8591" y="39176"/>
                    <a:pt x="23884" y="23884"/>
                  </a:cubicBezTo>
                  <a:cubicBezTo>
                    <a:pt x="39176" y="8591"/>
                    <a:pt x="59917" y="0"/>
                    <a:pt x="81544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71654" cy="779917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300147" y="1923452"/>
            <a:ext cx="12537940" cy="6666005"/>
          </a:xfrm>
          <a:custGeom>
            <a:avLst/>
            <a:gdLst/>
            <a:ahLst/>
            <a:cxnLst/>
            <a:rect r="r" b="b" t="t" l="l"/>
            <a:pathLst>
              <a:path h="6666005" w="12537940">
                <a:moveTo>
                  <a:pt x="0" y="0"/>
                </a:moveTo>
                <a:lnTo>
                  <a:pt x="12537940" y="0"/>
                </a:lnTo>
                <a:lnTo>
                  <a:pt x="12537940" y="6666004"/>
                </a:lnTo>
                <a:lnTo>
                  <a:pt x="0" y="66660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042534"/>
            <a:ext cx="4535812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Some routes show consistent overpricing vs competitors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00147" y="641089"/>
            <a:ext cx="7595905" cy="817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Pricing Competitiveness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6242" y="3060188"/>
            <a:ext cx="371284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Others indicate underpricing opportunities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6242" y="4076188"/>
            <a:ext cx="3712848" cy="71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Highlights where immediate pricing action is needed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187375" y="611397"/>
            <a:ext cx="13708378" cy="6962714"/>
          </a:xfrm>
          <a:custGeom>
            <a:avLst/>
            <a:gdLst/>
            <a:ahLst/>
            <a:cxnLst/>
            <a:rect r="r" b="b" t="t" l="l"/>
            <a:pathLst>
              <a:path h="6962714" w="13708378">
                <a:moveTo>
                  <a:pt x="0" y="0"/>
                </a:moveTo>
                <a:lnTo>
                  <a:pt x="13708378" y="0"/>
                </a:lnTo>
                <a:lnTo>
                  <a:pt x="13708378" y="6962713"/>
                </a:lnTo>
                <a:lnTo>
                  <a:pt x="0" y="6962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7687" y="1608273"/>
            <a:ext cx="3739689" cy="163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85"/>
              </a:lnSpc>
              <a:spcBef>
                <a:spcPct val="0"/>
              </a:spcBef>
            </a:pPr>
            <a:r>
              <a:rPr lang="en-US" b="true" sz="456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Trends &amp; Volatility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8095" y="4035604"/>
            <a:ext cx="3979281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Certain routes show high daily price volatility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Stable vs unstable markets clearly visible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Supports dynamic pricing and monitoring strategy</a:t>
            </a:r>
          </a:p>
          <a:p>
            <a:pPr algn="l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28563" y="7444857"/>
            <a:ext cx="1661508" cy="220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6"/>
              </a:lnSpc>
              <a:spcBef>
                <a:spcPct val="0"/>
              </a:spcBef>
            </a:pPr>
            <a:r>
              <a:rPr lang="en-US" b="true" sz="121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Learn More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674468" y="1416835"/>
            <a:ext cx="12016014" cy="7041583"/>
          </a:xfrm>
          <a:custGeom>
            <a:avLst/>
            <a:gdLst/>
            <a:ahLst/>
            <a:cxnLst/>
            <a:rect r="r" b="b" t="t" l="l"/>
            <a:pathLst>
              <a:path h="7041583" w="12016014">
                <a:moveTo>
                  <a:pt x="0" y="0"/>
                </a:moveTo>
                <a:lnTo>
                  <a:pt x="12016014" y="0"/>
                </a:lnTo>
                <a:lnTo>
                  <a:pt x="12016014" y="7041583"/>
                </a:lnTo>
                <a:lnTo>
                  <a:pt x="0" y="70415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96350" y="562909"/>
            <a:ext cx="3739689" cy="213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Customer Preference Drivers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5000" y="3812857"/>
            <a:ext cx="4963811" cy="2604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Non-stop flights command higher fares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Shorter duration flights priced at a premium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Helps justify differentiated pricing strategies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7404" y="1321123"/>
            <a:ext cx="14118167" cy="8142918"/>
          </a:xfrm>
          <a:custGeom>
            <a:avLst/>
            <a:gdLst/>
            <a:ahLst/>
            <a:cxnLst/>
            <a:rect r="r" b="b" t="t" l="l"/>
            <a:pathLst>
              <a:path h="8142918" w="14118167">
                <a:moveTo>
                  <a:pt x="0" y="0"/>
                </a:moveTo>
                <a:lnTo>
                  <a:pt x="14118167" y="0"/>
                </a:lnTo>
                <a:lnTo>
                  <a:pt x="14118167" y="8142918"/>
                </a:lnTo>
                <a:lnTo>
                  <a:pt x="0" y="81429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76" r="0" b="-8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287379" y="1197280"/>
            <a:ext cx="5000621" cy="6396143"/>
          </a:xfrm>
          <a:custGeom>
            <a:avLst/>
            <a:gdLst/>
            <a:ahLst/>
            <a:cxnLst/>
            <a:rect r="r" b="b" t="t" l="l"/>
            <a:pathLst>
              <a:path h="6396143" w="5000621">
                <a:moveTo>
                  <a:pt x="0" y="0"/>
                </a:moveTo>
                <a:lnTo>
                  <a:pt x="5000621" y="0"/>
                </a:lnTo>
                <a:lnTo>
                  <a:pt x="5000621" y="6396143"/>
                </a:lnTo>
                <a:lnTo>
                  <a:pt x="0" y="639614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430843" y="3517576"/>
            <a:ext cx="15406313" cy="6441881"/>
          </a:xfrm>
          <a:custGeom>
            <a:avLst/>
            <a:gdLst/>
            <a:ahLst/>
            <a:cxnLst/>
            <a:rect r="r" b="b" t="t" l="l"/>
            <a:pathLst>
              <a:path h="6441881" w="15406313">
                <a:moveTo>
                  <a:pt x="0" y="0"/>
                </a:moveTo>
                <a:lnTo>
                  <a:pt x="15406313" y="0"/>
                </a:lnTo>
                <a:lnTo>
                  <a:pt x="15406313" y="6441882"/>
                </a:lnTo>
                <a:lnTo>
                  <a:pt x="0" y="64418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9" r="0" b="-608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247069" y="223459"/>
            <a:ext cx="2738901" cy="3028732"/>
          </a:xfrm>
          <a:custGeom>
            <a:avLst/>
            <a:gdLst/>
            <a:ahLst/>
            <a:cxnLst/>
            <a:rect r="r" b="b" t="t" l="l"/>
            <a:pathLst>
              <a:path h="3028732" w="2738901">
                <a:moveTo>
                  <a:pt x="0" y="0"/>
                </a:moveTo>
                <a:lnTo>
                  <a:pt x="2738901" y="0"/>
                </a:lnTo>
                <a:lnTo>
                  <a:pt x="2738901" y="3028732"/>
                </a:lnTo>
                <a:lnTo>
                  <a:pt x="0" y="30287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09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96350" y="562909"/>
            <a:ext cx="3739689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Share Context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652094" y="849928"/>
            <a:ext cx="4963811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Some underperformance driven by lower capacity, not pricing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Prevents incorrect price cuts</a:t>
            </a:r>
          </a:p>
          <a:p>
            <a:pPr algn="l" marL="453387" indent="-226693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Add</a:t>
            </a:r>
            <a:r>
              <a:rPr lang="en-US" sz="2099">
                <a:solidFill>
                  <a:srgbClr val="1F2020"/>
                </a:solidFill>
                <a:latin typeface="Poppins"/>
                <a:ea typeface="Poppins"/>
                <a:cs typeface="Poppins"/>
                <a:sym typeface="Poppins"/>
              </a:rPr>
              <a:t>s strategic context to pricing decisions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02224" y="-6441776"/>
            <a:ext cx="12883553" cy="1288355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3949019" y="-5010643"/>
            <a:ext cx="11069128" cy="11055291"/>
          </a:xfrm>
          <a:custGeom>
            <a:avLst/>
            <a:gdLst/>
            <a:ahLst/>
            <a:cxnLst/>
            <a:rect r="r" b="b" t="t" l="l"/>
            <a:pathLst>
              <a:path h="11055291" w="11069128">
                <a:moveTo>
                  <a:pt x="0" y="0"/>
                </a:moveTo>
                <a:lnTo>
                  <a:pt x="11069128" y="0"/>
                </a:lnTo>
                <a:lnTo>
                  <a:pt x="11069128" y="11055291"/>
                </a:lnTo>
                <a:lnTo>
                  <a:pt x="0" y="110552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690946" y="-5453054"/>
            <a:ext cx="10906108" cy="1090610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852695" y="2908106"/>
            <a:ext cx="4582611" cy="1289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b="true" sz="3599">
                <a:solidFill>
                  <a:srgbClr val="1F2020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Impact &amp; Takeaways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8490363" y="1438369"/>
            <a:ext cx="1307274" cy="1324127"/>
          </a:xfrm>
          <a:custGeom>
            <a:avLst/>
            <a:gdLst/>
            <a:ahLst/>
            <a:cxnLst/>
            <a:rect r="r" b="b" t="t" l="l"/>
            <a:pathLst>
              <a:path h="1324127" w="1307274">
                <a:moveTo>
                  <a:pt x="0" y="0"/>
                </a:moveTo>
                <a:lnTo>
                  <a:pt x="1307274" y="0"/>
                </a:lnTo>
                <a:lnTo>
                  <a:pt x="1307274" y="1324127"/>
                </a:lnTo>
                <a:lnTo>
                  <a:pt x="0" y="1324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387362" y="6472162"/>
            <a:ext cx="13911784" cy="3193996"/>
            <a:chOff x="0" y="0"/>
            <a:chExt cx="2847539" cy="6537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47539" cy="653764"/>
            </a:xfrm>
            <a:custGeom>
              <a:avLst/>
              <a:gdLst/>
              <a:ahLst/>
              <a:cxnLst/>
              <a:rect r="r" b="b" t="t" l="l"/>
              <a:pathLst>
                <a:path h="653764" w="2847539">
                  <a:moveTo>
                    <a:pt x="27825" y="0"/>
                  </a:moveTo>
                  <a:lnTo>
                    <a:pt x="2819714" y="0"/>
                  </a:lnTo>
                  <a:cubicBezTo>
                    <a:pt x="2827094" y="0"/>
                    <a:pt x="2834171" y="2932"/>
                    <a:pt x="2839389" y="8150"/>
                  </a:cubicBezTo>
                  <a:cubicBezTo>
                    <a:pt x="2844608" y="13368"/>
                    <a:pt x="2847539" y="20445"/>
                    <a:pt x="2847539" y="27825"/>
                  </a:cubicBezTo>
                  <a:lnTo>
                    <a:pt x="2847539" y="625939"/>
                  </a:lnTo>
                  <a:cubicBezTo>
                    <a:pt x="2847539" y="633319"/>
                    <a:pt x="2844608" y="640396"/>
                    <a:pt x="2839389" y="645615"/>
                  </a:cubicBezTo>
                  <a:cubicBezTo>
                    <a:pt x="2834171" y="650833"/>
                    <a:pt x="2827094" y="653764"/>
                    <a:pt x="2819714" y="653764"/>
                  </a:cubicBezTo>
                  <a:lnTo>
                    <a:pt x="27825" y="653764"/>
                  </a:lnTo>
                  <a:cubicBezTo>
                    <a:pt x="20445" y="653764"/>
                    <a:pt x="13368" y="650833"/>
                    <a:pt x="8150" y="645615"/>
                  </a:cubicBezTo>
                  <a:cubicBezTo>
                    <a:pt x="2932" y="640396"/>
                    <a:pt x="0" y="633319"/>
                    <a:pt x="0" y="625939"/>
                  </a:cubicBezTo>
                  <a:lnTo>
                    <a:pt x="0" y="27825"/>
                  </a:lnTo>
                  <a:cubicBezTo>
                    <a:pt x="0" y="20445"/>
                    <a:pt x="2932" y="13368"/>
                    <a:pt x="8150" y="8150"/>
                  </a:cubicBezTo>
                  <a:cubicBezTo>
                    <a:pt x="13368" y="2932"/>
                    <a:pt x="20445" y="0"/>
                    <a:pt x="27825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2847539" cy="691864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2922291" y="7432973"/>
            <a:ext cx="1026728" cy="1025445"/>
          </a:xfrm>
          <a:custGeom>
            <a:avLst/>
            <a:gdLst/>
            <a:ahLst/>
            <a:cxnLst/>
            <a:rect r="r" b="b" t="t" l="l"/>
            <a:pathLst>
              <a:path h="1025445" w="1026728">
                <a:moveTo>
                  <a:pt x="0" y="0"/>
                </a:moveTo>
                <a:lnTo>
                  <a:pt x="1026728" y="0"/>
                </a:lnTo>
                <a:lnTo>
                  <a:pt x="1026728" y="1025445"/>
                </a:lnTo>
                <a:lnTo>
                  <a:pt x="0" y="10254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2937412" y="7227460"/>
            <a:ext cx="1011607" cy="101160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7086" lIns="47086" bIns="47086" rIns="47086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3265640" y="7522395"/>
            <a:ext cx="355150" cy="359728"/>
          </a:xfrm>
          <a:custGeom>
            <a:avLst/>
            <a:gdLst/>
            <a:ahLst/>
            <a:cxnLst/>
            <a:rect r="r" b="b" t="t" l="l"/>
            <a:pathLst>
              <a:path h="359728" w="355150">
                <a:moveTo>
                  <a:pt x="0" y="0"/>
                </a:moveTo>
                <a:lnTo>
                  <a:pt x="355150" y="0"/>
                </a:lnTo>
                <a:lnTo>
                  <a:pt x="355150" y="359728"/>
                </a:lnTo>
                <a:lnTo>
                  <a:pt x="0" y="3597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670048" y="6751823"/>
            <a:ext cx="10915728" cy="2193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Faster identification of pricing risks &amp; opportunities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Clear separation of pricing vs capacity issues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</a:t>
            </a: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uced manual analysis for pricing teams</a:t>
            </a:r>
          </a:p>
          <a:p>
            <a:pPr algn="l" marL="539745" indent="-269872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Shift from reactive to proactive pricing decision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91799" y="8458418"/>
            <a:ext cx="951769" cy="799882"/>
            <a:chOff x="0" y="0"/>
            <a:chExt cx="96714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7140" cy="812800"/>
            </a:xfrm>
            <a:custGeom>
              <a:avLst/>
              <a:gdLst/>
              <a:ahLst/>
              <a:cxnLst/>
              <a:rect r="r" b="b" t="t" l="l"/>
              <a:pathLst>
                <a:path h="812800" w="967140">
                  <a:moveTo>
                    <a:pt x="81342" y="0"/>
                  </a:moveTo>
                  <a:lnTo>
                    <a:pt x="885798" y="0"/>
                  </a:lnTo>
                  <a:cubicBezTo>
                    <a:pt x="907371" y="0"/>
                    <a:pt x="928061" y="8570"/>
                    <a:pt x="943315" y="23825"/>
                  </a:cubicBezTo>
                  <a:cubicBezTo>
                    <a:pt x="958570" y="39079"/>
                    <a:pt x="967140" y="59769"/>
                    <a:pt x="967140" y="81342"/>
                  </a:cubicBezTo>
                  <a:lnTo>
                    <a:pt x="967140" y="731458"/>
                  </a:lnTo>
                  <a:cubicBezTo>
                    <a:pt x="967140" y="776382"/>
                    <a:pt x="930722" y="812800"/>
                    <a:pt x="885798" y="812800"/>
                  </a:cubicBezTo>
                  <a:lnTo>
                    <a:pt x="81342" y="812800"/>
                  </a:lnTo>
                  <a:cubicBezTo>
                    <a:pt x="59769" y="812800"/>
                    <a:pt x="39079" y="804230"/>
                    <a:pt x="23825" y="788975"/>
                  </a:cubicBezTo>
                  <a:cubicBezTo>
                    <a:pt x="8570" y="773721"/>
                    <a:pt x="0" y="753031"/>
                    <a:pt x="0" y="731458"/>
                  </a:cubicBezTo>
                  <a:lnTo>
                    <a:pt x="0" y="81342"/>
                  </a:lnTo>
                  <a:cubicBezTo>
                    <a:pt x="0" y="59769"/>
                    <a:pt x="8570" y="39079"/>
                    <a:pt x="23825" y="23825"/>
                  </a:cubicBezTo>
                  <a:cubicBezTo>
                    <a:pt x="39079" y="8570"/>
                    <a:pt x="59769" y="0"/>
                    <a:pt x="81342" y="0"/>
                  </a:cubicBezTo>
                  <a:close/>
                </a:path>
              </a:pathLst>
            </a:custGeom>
            <a:solidFill>
              <a:srgbClr val="3A6AD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7140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674380" y="8710688"/>
            <a:ext cx="442747" cy="257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b="true" sz="146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292826" y="1028700"/>
            <a:ext cx="13648016" cy="1364801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3613602" y="2544752"/>
            <a:ext cx="11725929" cy="11711272"/>
          </a:xfrm>
          <a:custGeom>
            <a:avLst/>
            <a:gdLst/>
            <a:ahLst/>
            <a:cxnLst/>
            <a:rect r="r" b="b" t="t" l="l"/>
            <a:pathLst>
              <a:path h="11711272" w="11725929">
                <a:moveTo>
                  <a:pt x="0" y="0"/>
                </a:moveTo>
                <a:lnTo>
                  <a:pt x="11725930" y="0"/>
                </a:lnTo>
                <a:lnTo>
                  <a:pt x="11725930" y="11711272"/>
                </a:lnTo>
                <a:lnTo>
                  <a:pt x="0" y="117112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340216" y="2076089"/>
            <a:ext cx="11553237" cy="1155323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449114" y="6435106"/>
            <a:ext cx="1658466" cy="1656393"/>
          </a:xfrm>
          <a:custGeom>
            <a:avLst/>
            <a:gdLst/>
            <a:ahLst/>
            <a:cxnLst/>
            <a:rect r="r" b="b" t="t" l="l"/>
            <a:pathLst>
              <a:path h="1656393" w="1658466">
                <a:moveTo>
                  <a:pt x="0" y="0"/>
                </a:moveTo>
                <a:lnTo>
                  <a:pt x="1658466" y="0"/>
                </a:lnTo>
                <a:lnTo>
                  <a:pt x="1658466" y="1656393"/>
                </a:lnTo>
                <a:lnTo>
                  <a:pt x="0" y="165639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410448" y="6368821"/>
            <a:ext cx="1634041" cy="1634041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true" flipV="false" rot="0">
            <a:off x="2059083" y="6934100"/>
            <a:ext cx="336771" cy="503483"/>
          </a:xfrm>
          <a:custGeom>
            <a:avLst/>
            <a:gdLst/>
            <a:ahLst/>
            <a:cxnLst/>
            <a:rect r="r" b="b" t="t" l="l"/>
            <a:pathLst>
              <a:path h="503483" w="336771">
                <a:moveTo>
                  <a:pt x="336770" y="0"/>
                </a:moveTo>
                <a:lnTo>
                  <a:pt x="0" y="0"/>
                </a:lnTo>
                <a:lnTo>
                  <a:pt x="0" y="503483"/>
                </a:lnTo>
                <a:lnTo>
                  <a:pt x="336770" y="503483"/>
                </a:lnTo>
                <a:lnTo>
                  <a:pt x="3367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955480" y="4797731"/>
            <a:ext cx="6322709" cy="3205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50"/>
              </a:lnSpc>
            </a:pPr>
            <a:r>
              <a:rPr lang="en-US" sz="11602" b="true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Thank</a:t>
            </a:r>
          </a:p>
          <a:p>
            <a:pPr algn="ctr">
              <a:lnSpc>
                <a:spcPts val="11950"/>
              </a:lnSpc>
            </a:pPr>
            <a:r>
              <a:rPr lang="en-US" b="true" sz="11602">
                <a:solidFill>
                  <a:srgbClr val="3A6AD6"/>
                </a:solidFill>
                <a:latin typeface="Poppins Bold"/>
                <a:ea typeface="Poppins Bold"/>
                <a:cs typeface="Poppins Bold"/>
                <a:sym typeface="Poppins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DAG8bISkjDc</dc:identifier>
  <dcterms:modified xsi:type="dcterms:W3CDTF">2011-08-01T06:04:30Z</dcterms:modified>
  <cp:revision>1</cp:revision>
  <dc:title>Blue White Modern Pitch Deck Presentation</dc:title>
</cp:coreProperties>
</file>